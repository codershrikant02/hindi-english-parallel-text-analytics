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0"/>
            <a:ext cx="8823960" cy="4572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40080"/>
            <a:ext cx="8823960" cy="4572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3200400"/>
            <a:ext cx="8823960" cy="4572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3840480"/>
            <a:ext cx="8823960" cy="4572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4480560"/>
            <a:ext cx="8823960" cy="4572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463040"/>
            <a:ext cx="9144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914400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HINDI–ENGLISH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502920" y="1536192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kern="0" spc="200" dirty="0">
                <a:solidFill>
                  <a:srgbClr val="7DD3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PARALLEL TEXT ANALYTICS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502920" y="2286000"/>
            <a:ext cx="7772400" cy="4572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37744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C8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Cross-lingual analysis · Machine translation evaluation · Network analytics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017520"/>
            <a:ext cx="1920240" cy="822960"/>
          </a:xfrm>
          <a:prstGeom prst="rect">
            <a:avLst/>
          </a:prstGeom>
          <a:solidFill>
            <a:srgbClr val="132040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6324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1.49M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2920" y="34290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C8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Sentence Pairs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51760" y="3017520"/>
            <a:ext cx="1920240" cy="822960"/>
          </a:xfrm>
          <a:prstGeom prst="rect">
            <a:avLst/>
          </a:prstGeom>
          <a:solidFill>
            <a:srgbClr val="132040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306324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50K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651760" y="34290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C8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Sample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3017520"/>
            <a:ext cx="1920240" cy="822960"/>
          </a:xfrm>
          <a:prstGeom prst="rect">
            <a:avLst/>
          </a:prstGeom>
          <a:solidFill>
            <a:srgbClr val="132040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06324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2,507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800600" y="34290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C8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Sentences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49440" y="3017520"/>
            <a:ext cx="1920240" cy="822960"/>
          </a:xfrm>
          <a:prstGeom prst="rect">
            <a:avLst/>
          </a:prstGeom>
          <a:solidFill>
            <a:srgbClr val="132040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306324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949440" y="34290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C8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MT Metrics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411480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060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IIT Bombay English–Hindi Corpus  ·  AI4Bharat IndicNLP Dataset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109728" cy="50794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"/>
            <a:ext cx="173736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 / INTRODUCTION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02412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Hindi–English Parallel Text Analytics?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8412480" cy="16459"/>
          </a:xfrm>
          <a:prstGeom prst="rect">
            <a:avLst/>
          </a:prstGeom>
          <a:solidFill>
            <a:srgbClr val="E0F4F8"/>
          </a:solidFill>
          <a:ln w="12700">
            <a:solidFill>
              <a:srgbClr val="E0F4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63040"/>
            <a:ext cx="4069080" cy="1097280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63040"/>
            <a:ext cx="64008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0876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This Project?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783080"/>
            <a:ext cx="3749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systematic study of 1.49 million Hindi–English sentence pairs to evaluate machine translation quality and compare linguistic patterns across both languages.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4069080" cy="1097280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65176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9748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Hindi–English?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3749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India has 500M+ Hindi speakers. Bridging Hindi ↔ English improves access to education, government services, and digital content for millions of people.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1463040"/>
            <a:ext cx="4434840" cy="3200400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1463040"/>
            <a:ext cx="64008" cy="3200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50876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Linguistic Challenges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1874520"/>
            <a:ext cx="256032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187452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1874520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SVO vs SOV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0" y="2093976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English: Subject-Verb-Object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Hindi: Subject-Object-Verb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2551176"/>
            <a:ext cx="256032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255117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0" y="255117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Script Difference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2770632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Latin script vs Devanagari — different tokenization rules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17720" y="3227832"/>
            <a:ext cx="256032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322783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3227832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Morphology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37760" y="3447288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Hindi is morphologically rich — more word forms per root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17720" y="3904488"/>
            <a:ext cx="256032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390448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37760" y="3904488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BLEU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37760" y="4123944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BLEU underestimates quality for Hindi due to inflections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46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Hindi–English Parallel Text Analytics  ·  Introduction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109728" cy="50794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"/>
            <a:ext cx="173736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 / PROBLEM STATEMENT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02412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in Hindi–English machine translation and cross-lingual analysis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8412480" cy="16459"/>
          </a:xfrm>
          <a:prstGeom prst="rect">
            <a:avLst/>
          </a:prstGeom>
          <a:solidFill>
            <a:srgbClr val="E0F4F8"/>
          </a:solidFill>
          <a:ln w="12700">
            <a:solidFill>
              <a:srgbClr val="E0F4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17320"/>
            <a:ext cx="859536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63040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Problem: How well do current MT systems translate between English and Hindi, and what linguistic factors explain their failures?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377440"/>
            <a:ext cx="2697480" cy="2377440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77440"/>
            <a:ext cx="269748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9572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Translation Quality Gap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2816352"/>
            <a:ext cx="2487168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BLEU scores for EN→HI are often below 10 — but does this reflect true quality or metric limitation? A multi-metric approach is needed.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72968" y="2377440"/>
            <a:ext cx="2697480" cy="2377440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2377440"/>
            <a:ext cx="26974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239572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Morphological Mismatch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82696" y="2816352"/>
            <a:ext cx="2487168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Hindi inflects words for gender, number, case and tense. MT systems trained on English vocab struggle to generate correct Hindi morphological forms.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71616" y="2377440"/>
            <a:ext cx="2697480" cy="2377440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71616" y="2377440"/>
            <a:ext cx="2697480" cy="34747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239572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Structural Reordering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81344" y="2816352"/>
            <a:ext cx="2487168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 (SVO) → HI (SOV) requires full sentence restructuring. This reordering problem causes systematic errors in verb placement and object positioning.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46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Hindi–English Parallel Text Analytics  ·  Problem Statement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109728" cy="50794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"/>
            <a:ext cx="173736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 / LITERATURE REVIEW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02412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Evolution of Hindi–English NLP research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8412480" cy="16459"/>
          </a:xfrm>
          <a:prstGeom prst="rect">
            <a:avLst/>
          </a:prstGeom>
          <a:solidFill>
            <a:srgbClr val="E0F4F8"/>
          </a:solidFill>
          <a:ln w="12700">
            <a:solidFill>
              <a:srgbClr val="E0F4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578608"/>
            <a:ext cx="8595360" cy="36576"/>
          </a:xfrm>
          <a:prstGeom prst="rect">
            <a:avLst/>
          </a:prstGeom>
          <a:solidFill>
            <a:srgbClr val="E0F4F8"/>
          </a:solidFill>
          <a:ln w="12700">
            <a:solidFill>
              <a:srgbClr val="E0F4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450592"/>
            <a:ext cx="256032" cy="25603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417320"/>
            <a:ext cx="2011680" cy="1115568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417320"/>
            <a:ext cx="201168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444752"/>
            <a:ext cx="18653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1990s–2000s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" y="1682496"/>
            <a:ext cx="18653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Rule-Based MT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1920240"/>
            <a:ext cx="18653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Hand-crafted grammar rules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Hindi WordNet development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IIT Bombay corpus creation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2011680" cy="1993392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9272" y="2450592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1417320"/>
            <a:ext cx="2011680" cy="1115568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50592" y="1417320"/>
            <a:ext cx="20116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3744" y="1444752"/>
            <a:ext cx="18653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2006–2015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23744" y="1682496"/>
            <a:ext cx="18653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 MT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23744" y="1920240"/>
            <a:ext cx="18653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IBM models + Moses framework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Phrase-based translation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BLEU metric adoption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50592" y="2788920"/>
            <a:ext cx="2011680" cy="1993392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95544" y="2450592"/>
            <a:ext cx="256032" cy="25603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26864" y="1417320"/>
            <a:ext cx="2011680" cy="1115568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1417320"/>
            <a:ext cx="2011680" cy="5486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0016" y="1444752"/>
            <a:ext cx="18653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2017–2020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0016" y="1682496"/>
            <a:ext cx="18653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Neural MT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0016" y="1920240"/>
            <a:ext cx="18653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Seq2Seq + Attention (Bahdanau)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Transformer architecture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Helsinki-NLP OPUS models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26864" y="2788920"/>
            <a:ext cx="2011680" cy="1993392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71816" y="2450592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03136" y="1417320"/>
            <a:ext cx="2011680" cy="1115568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03136" y="141732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76288" y="1444752"/>
            <a:ext cx="18653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2021–Now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76288" y="1682496"/>
            <a:ext cx="18653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LLMs &amp; IndicNLP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76288" y="1920240"/>
            <a:ext cx="18653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AI4Bharat IndicTrans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Samanantar: 49M pairs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BERTScore &amp; semantic eval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03136" y="2788920"/>
            <a:ext cx="2011680" cy="1993392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2834640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References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127248"/>
            <a:ext cx="4069080" cy="566928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127248"/>
            <a:ext cx="64008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182112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Papineni et al. (2002)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340156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BLEU metric — still the standard for MT evaluation worldwide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17720" y="3127248"/>
            <a:ext cx="4069080" cy="566928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17720" y="3127248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182112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Vaswani et al. (2017)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00600" y="340156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 architecture powering all modern translation systems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3785616"/>
            <a:ext cx="4069080" cy="566928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74320" y="3785616"/>
            <a:ext cx="64008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3840480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Kunchukuttan et al. (2018)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57200" y="405993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IIT Bombay English–Hindi corpus — the dataset used in this project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17720" y="3785616"/>
            <a:ext cx="4069080" cy="566928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17720" y="3785616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3840480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Ramesh et al. (2022)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800600" y="405993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Samanantar — largest Indic parallel corpus with 49M sentence pairs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846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Hindi–English Parallel Text Analytics  ·  Literature Review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109728" cy="50794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"/>
            <a:ext cx="173736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 / METHODOLOGY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02412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8-step end-to-end pipeline on Google Colab (GPU)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8412480" cy="16459"/>
          </a:xfrm>
          <a:prstGeom prst="rect">
            <a:avLst/>
          </a:prstGeom>
          <a:solidFill>
            <a:srgbClr val="E0F4F8"/>
          </a:solidFill>
          <a:ln w="12700">
            <a:solidFill>
              <a:srgbClr val="E0F4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417320"/>
            <a:ext cx="1920240" cy="1188720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417320"/>
            <a:ext cx="192024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" y="1472184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147218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1490472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Load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1819656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HuggingFace cfilt/iitb-english-hindi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48840" y="1920240"/>
            <a:ext cx="25603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13432" y="1819656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404872" y="1417320"/>
            <a:ext cx="1920240" cy="1188720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04872" y="1417320"/>
            <a:ext cx="192024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78024" y="1472184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78024" y="147218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70632" y="1490472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96312" y="1819656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Indic normalization + regex cleaning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25112" y="1920240"/>
            <a:ext cx="25603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9704" y="1819656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81144" y="1417320"/>
            <a:ext cx="1920240" cy="1188720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81144" y="1417320"/>
            <a:ext cx="1920240" cy="32918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54296" y="1472184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54296" y="147218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46904" y="1490472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72584" y="1819656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Length, vocab, TTR analysis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501384" y="1920240"/>
            <a:ext cx="25603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65976" y="1819656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757416" y="1417320"/>
            <a:ext cx="1920240" cy="1188720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57416" y="1417320"/>
            <a:ext cx="1920240" cy="32918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30568" y="1472184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30568" y="147218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123176" y="1490472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Translation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48856" y="1819656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Helsinki-NLP opus-mt-en-hi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8600" y="3108960"/>
            <a:ext cx="1920240" cy="1188720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28600" y="3108960"/>
            <a:ext cx="192024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1752" y="3163824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1752" y="316382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4360" y="3182112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0040" y="3511296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BLEU · chrF · METEOR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148840" y="3611880"/>
            <a:ext cx="25603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13432" y="3511296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404872" y="3108960"/>
            <a:ext cx="1920240" cy="1188720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404872" y="3108960"/>
            <a:ext cx="192024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478024" y="3163824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78024" y="316382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770632" y="3182112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Cross-Lingual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496312" y="3511296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SVO vs SOV · TTR · word length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325112" y="3611880"/>
            <a:ext cx="25603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89704" y="3511296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4581144" y="3108960"/>
            <a:ext cx="1920240" cy="1188720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581144" y="3108960"/>
            <a:ext cx="1920240" cy="32918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54296" y="3163824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54296" y="316382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4B4A"/>
                </a:solidFill>
              </a:rPr>
              <a:t>7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946904" y="3182112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Analysis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672584" y="3511296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 / Medium / Bad chrF tiers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501384" y="3611880"/>
            <a:ext cx="25603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65976" y="3511296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6757416" y="3108960"/>
            <a:ext cx="1920240" cy="1188720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757416" y="3108960"/>
            <a:ext cx="1920240" cy="32918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30568" y="3163824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30568" y="316382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4B4A"/>
                </a:solidFill>
              </a:rPr>
              <a:t>8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123176" y="3182112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848856" y="3511296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Scores · charts · conclusions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732520" y="2331720"/>
            <a:ext cx="36576" cy="8046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613648" y="2999232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4320" y="4846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Hindi–English Parallel Text Analytics  ·  Methodology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109728" cy="50794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"/>
            <a:ext cx="173736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 / DATASET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Information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02412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IIT Bombay English–Hindi Corpus · AI4Bharat IndicNLP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8412480" cy="16459"/>
          </a:xfrm>
          <a:prstGeom prst="rect">
            <a:avLst/>
          </a:prstGeom>
          <a:solidFill>
            <a:srgbClr val="E0F4F8"/>
          </a:solidFill>
          <a:ln w="12700">
            <a:solidFill>
              <a:srgbClr val="E0F4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17320"/>
            <a:ext cx="8595360" cy="51206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81328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C8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indicnlp.ai4bharat.org  ·  HuggingFace: cfilt/iitb-english-hindi  ·  License: CC-BY 4.0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057400"/>
            <a:ext cx="1938528" cy="932688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057400"/>
            <a:ext cx="193852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21408"/>
            <a:ext cx="193852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1.49M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4320" y="2505456"/>
            <a:ext cx="19385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Pairs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2688336"/>
            <a:ext cx="19385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corpus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50592" y="2057400"/>
            <a:ext cx="1938528" cy="932688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50592" y="2057400"/>
            <a:ext cx="1938528" cy="5486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0592" y="2121408"/>
            <a:ext cx="193852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450592" y="2505456"/>
            <a:ext cx="19385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 Segments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50592" y="2688336"/>
            <a:ext cx="19385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set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26864" y="2057400"/>
            <a:ext cx="1938528" cy="932688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2057400"/>
            <a:ext cx="193852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2121408"/>
            <a:ext cx="193852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2,507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626864" y="2505456"/>
            <a:ext cx="19385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Segments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26864" y="2688336"/>
            <a:ext cx="19385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set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03136" y="2057400"/>
            <a:ext cx="1938528" cy="932688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03136" y="2057400"/>
            <a:ext cx="193852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03136" y="2121408"/>
            <a:ext cx="193852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50K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803136" y="2505456"/>
            <a:ext cx="19385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Used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03136" y="2688336"/>
            <a:ext cx="19385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+ analysis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3127248"/>
            <a:ext cx="4160520" cy="1463040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127248"/>
            <a:ext cx="64008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18211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Properties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3493008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Domains: news, govt. documents, literature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3703320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Languages: English (Latin) ↔ Hindi (Devanagari)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3913632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Avg EN sentence: 4.42 words  ·  HI: 4.02 words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4123944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English TTR: 0.0202  ·  Hindi TTR: 0.0210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4334256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Hindi vocabulary size &gt; English in same sample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17720" y="3127248"/>
            <a:ext cx="4114800" cy="1463040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17720" y="3127248"/>
            <a:ext cx="64008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3182112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 Applied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73168" y="3493008"/>
            <a:ext cx="3794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English: lowercase, URL removal, special char filter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73168" y="3703320"/>
            <a:ext cx="3794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Hindi: IndicNormalizerFactory (indic-nlp-library)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73168" y="3913632"/>
            <a:ext cx="3794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Hindi: Devanagari-only regex (U+0900–U+097F)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73168" y="4123944"/>
            <a:ext cx="3794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Both: whitespace normalization and deduplication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73168" y="4334256"/>
            <a:ext cx="3794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Result: clean train (50K) + test (2507) lists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846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Hindi–English Parallel Text Analytics  ·  Dataset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109728" cy="50794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"/>
            <a:ext cx="173736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 / IMPLEMENTATION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02412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Tools, models and environment used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8412480" cy="16459"/>
          </a:xfrm>
          <a:prstGeom prst="rect">
            <a:avLst/>
          </a:prstGeom>
          <a:solidFill>
            <a:srgbClr val="E0F4F8"/>
          </a:solidFill>
          <a:ln w="12700">
            <a:solidFill>
              <a:srgbClr val="E0F4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17320"/>
            <a:ext cx="1325880" cy="841248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132588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527048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HuggingFace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200253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 IIT Bombay corpus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719072" y="1417320"/>
            <a:ext cx="1325880" cy="841248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719072" y="1417320"/>
            <a:ext cx="1325880" cy="64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92224" y="1527048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Helsinki-NLP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opus-mt-en-hi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92224" y="200253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Marian NMT model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63824" y="1417320"/>
            <a:ext cx="1325880" cy="841248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63824" y="1417320"/>
            <a:ext cx="13258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36976" y="1527048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sacrebleu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36976" y="200253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BLEU · chrF · METEOR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350008"/>
            <a:ext cx="1325880" cy="841248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350008"/>
            <a:ext cx="13258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459736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indic-nlp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library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" y="29352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Hindi normalization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719072" y="2350008"/>
            <a:ext cx="1325880" cy="841248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719072" y="2350008"/>
            <a:ext cx="1325880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92224" y="2459736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pandas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numpy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792224" y="29352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manipulation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163824" y="2350008"/>
            <a:ext cx="1325880" cy="841248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63824" y="2350008"/>
            <a:ext cx="13258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36976" y="2459736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matplotlib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36976" y="29352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visualizations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17720" y="1417320"/>
            <a:ext cx="4114800" cy="3291840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17720" y="1417320"/>
            <a:ext cx="64008" cy="3291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1481328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Details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17720" y="1847088"/>
            <a:ext cx="4114800" cy="329184"/>
          </a:xfrm>
          <a:prstGeom prst="rect">
            <a:avLst/>
          </a:prstGeom>
          <a:solidFill>
            <a:srgbClr val="F1F8FB"/>
          </a:solidFill>
          <a:ln w="6350">
            <a:solidFill>
              <a:srgbClr val="BAE6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1728" y="190195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Environment: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97880" y="1901952"/>
            <a:ext cx="27614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Colab — NVIDIA T4 GPU (free tier)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17720" y="2194560"/>
            <a:ext cx="4114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BAE6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22494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 Size: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97880" y="2249424"/>
            <a:ext cx="27614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 sentences per translation batch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17720" y="2542032"/>
            <a:ext cx="4114800" cy="329184"/>
          </a:xfrm>
          <a:prstGeom prst="rect">
            <a:avLst/>
          </a:prstGeom>
          <a:solidFill>
            <a:srgbClr val="F1F8FB"/>
          </a:solidFill>
          <a:ln w="6350">
            <a:solidFill>
              <a:srgbClr val="BAE6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1728" y="259689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 Tokens: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97880" y="2596896"/>
            <a:ext cx="27614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128 tokens (truncation for memory efficiency)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17720" y="2889504"/>
            <a:ext cx="4114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BAE6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81728" y="294436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Sample: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897880" y="2944368"/>
            <a:ext cx="27614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50,000 pairs for EDA and cross-lingual analysis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17720" y="3236976"/>
            <a:ext cx="4114800" cy="329184"/>
          </a:xfrm>
          <a:prstGeom prst="rect">
            <a:avLst/>
          </a:prstGeom>
          <a:solidFill>
            <a:srgbClr val="F1F8FB"/>
          </a:solidFill>
          <a:ln w="6350">
            <a:solidFill>
              <a:srgbClr val="BAE6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81728" y="329184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Set: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897880" y="3291840"/>
            <a:ext cx="27614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2,507 official test pairs for evaluation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17720" y="3584448"/>
            <a:ext cx="4114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BAE6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81728" y="363931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Translation: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897880" y="3639312"/>
            <a:ext cx="27614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Helsinki EN→HI model via transformers library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17720" y="3931920"/>
            <a:ext cx="4114800" cy="329184"/>
          </a:xfrm>
          <a:prstGeom prst="rect">
            <a:avLst/>
          </a:prstGeom>
          <a:solidFill>
            <a:srgbClr val="F1F8FB"/>
          </a:solidFill>
          <a:ln w="6350">
            <a:solidFill>
              <a:srgbClr val="BAE6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81728" y="398678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Tiers: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897880" y="3986784"/>
            <a:ext cx="27614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 ≥50 · Medium 20–50 · Bad &lt;20 (chrF)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617720" y="4279392"/>
            <a:ext cx="4114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BAE6F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81728" y="433425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Storage: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897880" y="4334256"/>
            <a:ext cx="27614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translations.json · evaluation_scores.json · error_analysis.csv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846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Hindi–English Parallel Text Analytics  ·  Implementation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109728" cy="50794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"/>
            <a:ext cx="173736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 / RESULTS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02412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scores · EDA findings · Error analysis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8412480" cy="16459"/>
          </a:xfrm>
          <a:prstGeom prst="rect">
            <a:avLst/>
          </a:prstGeom>
          <a:solidFill>
            <a:srgbClr val="E0F4F8"/>
          </a:solidFill>
          <a:ln w="12700">
            <a:solidFill>
              <a:srgbClr val="E0F4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17320"/>
            <a:ext cx="2697480" cy="1417320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269748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44752"/>
            <a:ext cx="2514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BLEU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" y="1847088"/>
            <a:ext cx="1645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6.91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5760" y="228600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/100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46888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— expected for EN→HI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chrF is more reliable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54680" y="1417320"/>
            <a:ext cx="2697480" cy="1417320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417320"/>
            <a:ext cx="269748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444752"/>
            <a:ext cx="2514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chrF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46120" y="1847088"/>
            <a:ext cx="1645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27.09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46120" y="228600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/100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46120" y="246888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Moderate — char-level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Hindi script matching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0" y="1417320"/>
            <a:ext cx="2697480" cy="1417320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417320"/>
            <a:ext cx="26974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444752"/>
            <a:ext cx="2514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METEOR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26480" y="1847088"/>
            <a:ext cx="1645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0.2420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126480" y="228600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/1.0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246888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Decent — synonym-aware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 order considered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944368"/>
            <a:ext cx="4114800" cy="1737360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944368"/>
            <a:ext cx="64008" cy="173736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999232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Analysis — 2,507 test sentences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3375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 (chrF ≥ 50)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06040" y="3383280"/>
            <a:ext cx="13716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06040" y="3383280"/>
            <a:ext cx="109728" cy="1828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05072" y="33375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372160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 (20–50)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606040" y="3767328"/>
            <a:ext cx="13716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06040" y="3767328"/>
            <a:ext cx="644652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05072" y="3721608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10565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Bad (&lt; 20)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606040" y="4151376"/>
            <a:ext cx="13716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06040" y="4151376"/>
            <a:ext cx="617220" cy="18288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05072" y="4105656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4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17720" y="2944368"/>
            <a:ext cx="4114800" cy="1737360"/>
          </a:xfrm>
          <a:prstGeom prst="rect">
            <a:avLst/>
          </a:prstGeom>
          <a:solidFill>
            <a:srgbClr val="F1F8FB"/>
          </a:solidFill>
          <a:ln w="10160">
            <a:solidFill>
              <a:srgbClr val="BAE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17720" y="2944368"/>
            <a:ext cx="64008" cy="1737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2999232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Cross-Lingual Findings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73168" y="3337560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 avg sent. length: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903720" y="3337560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4.42 words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773168" y="3566160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 avg sent. length: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903720" y="3566160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4.02 words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773168" y="3794760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 TTR: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903720" y="3794760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0.0202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773168" y="4023360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 TTR: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903720" y="4023360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0.0210  (richer vocab)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773168" y="4251960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 word order: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903720" y="4251960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SVO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773168" y="4480560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 word order: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903720" y="4480560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SOV  (verb final)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4846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Hindi–English Parallel Text Analytics  ·  Results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0"/>
            <a:ext cx="8979408" cy="7315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22960"/>
            <a:ext cx="8979408" cy="7315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645920"/>
            <a:ext cx="8979408" cy="7315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468880"/>
            <a:ext cx="8979408" cy="7315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291840"/>
            <a:ext cx="8979408" cy="7315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4114800"/>
            <a:ext cx="8979408" cy="7315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097280"/>
            <a:ext cx="822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57200"/>
            <a:ext cx="5486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320040" y="1417320"/>
            <a:ext cx="8503920" cy="566928"/>
          </a:xfrm>
          <a:prstGeom prst="rect">
            <a:avLst/>
          </a:prstGeom>
          <a:solidFill>
            <a:srgbClr val="0A1630"/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472184"/>
            <a:ext cx="320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</a:rPr>
              <a:t>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" y="1490472"/>
            <a:ext cx="79735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MT Evaluation: Helsinki-NLP model achieves BLEU 6.91, chrF 27.09, METEOR 0.2420 — consistent with published benchmarks for EN→HI.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057400"/>
            <a:ext cx="8503920" cy="566928"/>
          </a:xfrm>
          <a:prstGeom prst="rect">
            <a:avLst/>
          </a:prstGeom>
          <a:solidFill>
            <a:srgbClr val="0A1630"/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112264"/>
            <a:ext cx="320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</a:rPr>
              <a:t>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" y="2130552"/>
            <a:ext cx="79735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chrF is the most reliable metric for Hindi — character-level matching handles Devanagari morphology better than BLEU.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697480"/>
            <a:ext cx="8503920" cy="566928"/>
          </a:xfrm>
          <a:prstGeom prst="rect">
            <a:avLst/>
          </a:prstGeom>
          <a:solidFill>
            <a:srgbClr val="0A1630"/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752344"/>
            <a:ext cx="320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</a:rPr>
              <a:t>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9808" y="2770632"/>
            <a:ext cx="79735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Cross-lingual analysis confirms Hindi has richer vocabulary (TTR 0.0210 &gt; 0.0202) due to agglutinative morphology.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337560"/>
            <a:ext cx="8503920" cy="566928"/>
          </a:xfrm>
          <a:prstGeom prst="rect">
            <a:avLst/>
          </a:prstGeom>
          <a:solidFill>
            <a:srgbClr val="0A1630"/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392424"/>
            <a:ext cx="320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</a:rPr>
              <a:t>✔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3410712"/>
            <a:ext cx="79735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SOV vs SVO word order is the primary structural reason for translation errors — requires global sentence reordering.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977640"/>
            <a:ext cx="8503920" cy="566928"/>
          </a:xfrm>
          <a:prstGeom prst="rect">
            <a:avLst/>
          </a:prstGeom>
          <a:solidFill>
            <a:srgbClr val="132040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032504"/>
            <a:ext cx="320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</a:rPr>
              <a:t>◈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9808" y="4050792"/>
            <a:ext cx="79735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Work: IndicTrans comparison, HI→EN reverse direction, BERTScore semantic evaluation, and human judgment studies.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0040" y="486460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0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Hindi–English Parallel Text Analytics  ·  IIT Bombay Corpus + AI4Bharat IndicNLP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6095</Words>
  <Application>WPS Presentation</Application>
  <PresentationFormat/>
  <Paragraphs>445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Shrikant Chiddarwar</cp:lastModifiedBy>
  <cp:revision>1</cp:revision>
  <dcterms:created xsi:type="dcterms:W3CDTF">2026-04-09T04:23:33Z</dcterms:created>
  <dcterms:modified xsi:type="dcterms:W3CDTF">2026-04-09T04:23:33Z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BDF86CAD758C45A4B2E00CA835843592_12</vt:lpwstr>
  </property>
  <property fmtid="{D5CDD505-2E9C-101B-9397-08002B2CF9AE}" pid="3" name="KSOProductBuildVer">
    <vt:lpwstr>1033-12.2.0.23196</vt:lpwstr>
  </property>
</Properties>
</file>