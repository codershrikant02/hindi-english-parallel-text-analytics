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72" r:id="rId8"/>
    <p:sldId id="269" r:id="rId9"/>
    <p:sldId id="259" r:id="rId10"/>
    <p:sldId id="270" r:id="rId11"/>
    <p:sldId id="260" r:id="rId12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7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7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794aa1699_2_68:notes"/>
          <p:cNvSpPr txBox="1"/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0" name="Google Shape;120;g3d794aa1699_2_6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794aa1699_2_77:notes"/>
          <p:cNvSpPr txBox="1"/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29" name="Google Shape;129;g3d794aa1699_2_7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794aa1699_0_9:notes"/>
          <p:cNvSpPr txBox="1"/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39" name="Google Shape;139;g3d794aa1699_0_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dfa6ae36d_0_55:notes"/>
          <p:cNvSpPr txBox="1"/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48" name="Google Shape;148;g3ddfa6ae36d_0_5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dfa6ae36d_0_0:notes"/>
          <p:cNvSpPr txBox="1"/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56" name="Google Shape;156;g3ddfa6ae36d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image" Target="../media/image7.jpe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matchingName="Blank 1">
  <p:cSld name="OBJECT">
    <p:bg>
      <p:bgPr>
        <a:solidFill>
          <a:schemeClr val="lt1"/>
        </a:solidFill>
        <a:effectLst/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4800600"/>
            <a:ext cx="9144000" cy="34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33347" y="249511"/>
            <a:ext cx="726408" cy="5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4541041"/>
            <a:ext cx="430287" cy="2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8819" y="128831"/>
            <a:ext cx="3143126" cy="54144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type="ftr" idx="11"/>
          </p:nvPr>
        </p:nvSpPr>
        <p:spPr>
          <a:xfrm>
            <a:off x="3744682" y="4850796"/>
            <a:ext cx="1653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type="dt" idx="10"/>
          </p:nvPr>
        </p:nvSpPr>
        <p:spPr>
          <a:xfrm>
            <a:off x="683419" y="4850796"/>
            <a:ext cx="5703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25400" marR="0" lvl="1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25400" marR="0" lvl="2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25400" marR="0" lvl="3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5400" marR="0" lvl="4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400" marR="0" lvl="5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5400" marR="0" lvl="6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25400" marR="0" lvl="7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25400" marR="0" lvl="8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6258" y="3652"/>
            <a:ext cx="327742" cy="5139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13124" y="4236787"/>
            <a:ext cx="726408" cy="5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046288" y="0"/>
            <a:ext cx="2097710" cy="414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14446" y="114300"/>
            <a:ext cx="751668" cy="772567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type="title"/>
          </p:nvPr>
        </p:nvSpPr>
        <p:spPr>
          <a:xfrm>
            <a:off x="2029399" y="157258"/>
            <a:ext cx="50853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 b="1" i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type="ftr" idx="11"/>
          </p:nvPr>
        </p:nvSpPr>
        <p:spPr>
          <a:xfrm>
            <a:off x="3744682" y="4850796"/>
            <a:ext cx="1653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type="dt" idx="10"/>
          </p:nvPr>
        </p:nvSpPr>
        <p:spPr>
          <a:xfrm>
            <a:off x="683419" y="4850796"/>
            <a:ext cx="570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25400" marR="0" lvl="1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25400" marR="0" lvl="2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25400" marR="0" lvl="3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5400" marR="0" lvl="4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400" marR="0" lvl="5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5400" marR="0" lvl="6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25400" marR="0" lvl="7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25400" marR="0" lvl="8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6258" y="3652"/>
            <a:ext cx="327742" cy="5139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13124" y="4229411"/>
            <a:ext cx="726408" cy="5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025816" y="0"/>
            <a:ext cx="2118185" cy="41465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>
            <p:ph type="title"/>
          </p:nvPr>
        </p:nvSpPr>
        <p:spPr>
          <a:xfrm>
            <a:off x="2029399" y="157258"/>
            <a:ext cx="50853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 b="1" i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body" idx="1"/>
          </p:nvPr>
        </p:nvSpPr>
        <p:spPr>
          <a:xfrm>
            <a:off x="1495846" y="883659"/>
            <a:ext cx="6152400" cy="26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type="ftr" idx="11"/>
          </p:nvPr>
        </p:nvSpPr>
        <p:spPr>
          <a:xfrm>
            <a:off x="3744682" y="4850796"/>
            <a:ext cx="1653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type="dt" idx="10"/>
          </p:nvPr>
        </p:nvSpPr>
        <p:spPr>
          <a:xfrm>
            <a:off x="683419" y="4850796"/>
            <a:ext cx="570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25400" marR="0" lvl="1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25400" marR="0" lvl="2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25400" marR="0" lvl="3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5400" marR="0" lvl="4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400" marR="0" lvl="5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5400" marR="0" lvl="6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25400" marR="0" lvl="7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25400" marR="0" lvl="8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2" name="Google Shape;82;p17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3" name="Google Shape;83;p1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6" name="Google Shape;86;p1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20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2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21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p2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2" name="Google Shape;102;p2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5" name="Google Shape;105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6" name="Google Shape;106;p23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7" name="Google Shape;107;p23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1" name="Google Shape;111;p2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4" name="Google Shape;114;p25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/>
          <p:nvPr/>
        </p:nvSpPr>
        <p:spPr>
          <a:xfrm>
            <a:off x="-525" y="588100"/>
            <a:ext cx="9144000" cy="40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406400" marR="31750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r>
              <a:rPr lang="en-GB" sz="1900" b="1" i="0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GB" sz="2200" b="1" i="0" u="sng" strike="noStrike" cap="none">
                <a:solidFill>
                  <a:srgbClr val="05235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Engineering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GB" sz="2200" b="1" i="0" u="sng" strike="noStrike" cap="none">
                <a:solidFill>
                  <a:srgbClr val="05235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Academic Year 202</a:t>
            </a:r>
            <a:r>
              <a:rPr lang="en-GB" sz="2200" b="1" u="sng">
                <a:solidFill>
                  <a:srgbClr val="05235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r>
              <a:rPr lang="en-GB" sz="2200" b="1" i="0" u="sng" strike="noStrike" cap="none">
                <a:solidFill>
                  <a:srgbClr val="05235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-202</a:t>
            </a:r>
            <a:r>
              <a:rPr lang="en-GB" sz="2200" b="1" u="sng">
                <a:solidFill>
                  <a:srgbClr val="05235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</a:t>
            </a:r>
            <a:r>
              <a:rPr lang="en-GB" sz="2200" b="1" i="0" u="sng" strike="noStrike" cap="none">
                <a:solidFill>
                  <a:srgbClr val="05235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(Odd Sem)</a:t>
            </a:r>
            <a:endParaRPr sz="2200" b="1" i="0" u="sng" strike="noStrike" cap="none">
              <a:solidFill>
                <a:srgbClr val="05235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GB" sz="2100" b="1" u="sng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SMA IA</a:t>
            </a:r>
            <a:endParaRPr sz="2100" b="1" u="sng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altLang="en-US" sz="1800"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Hindi–English Parallel Text Analytics</a:t>
            </a:r>
            <a:endParaRPr lang="en-US" altLang="en-US" sz="1800" b="1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altLang="en-GB" sz="1800" b="1" i="0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Shrikant Chiddarwar</a:t>
            </a:r>
            <a:r>
              <a:rPr lang="en-GB" sz="1800" b="1" i="0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(A–</a:t>
            </a:r>
            <a:r>
              <a:rPr lang="en-IN" altLang="en-GB" sz="1800" b="1" i="0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07</a:t>
            </a:r>
            <a:r>
              <a:rPr lang="en-GB" sz="1800" b="1" i="0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1800" b="1" i="0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IN" altLang="en-GB" sz="1800"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Rohit Chauhan</a:t>
            </a:r>
            <a:r>
              <a:rPr lang="en-GB" sz="1800"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(A–</a:t>
            </a:r>
            <a:r>
              <a:rPr lang="en-IN" altLang="en-GB" sz="1800"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06</a:t>
            </a:r>
            <a:r>
              <a:rPr lang="en-GB" sz="1800"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1800" b="1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1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9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Supervisor </a:t>
            </a:r>
            <a:endParaRPr sz="1900" b="1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900" b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Prof. Pradnya Patil</a:t>
            </a:r>
            <a:endParaRPr sz="1900" b="1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900" b="1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3" name="Google Shape;123;p27"/>
          <p:cNvSpPr txBox="1"/>
          <p:nvPr>
            <p:ph type="ftr" idx="11"/>
          </p:nvPr>
        </p:nvSpPr>
        <p:spPr>
          <a:xfrm>
            <a:off x="3744682" y="4850796"/>
            <a:ext cx="1653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Computer Engineering Department</a:t>
            </a:r>
            <a:endParaRPr lang="en-GB"/>
          </a:p>
        </p:txBody>
      </p:sp>
      <p:sp>
        <p:nvSpPr>
          <p:cNvPr id="124" name="Google Shape;124;p27"/>
          <p:cNvSpPr txBox="1"/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25" name="Google Shape;125;p2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2866" y="117475"/>
            <a:ext cx="4848225" cy="77851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7"/>
          <p:cNvSpPr txBox="1"/>
          <p:nvPr>
            <p:ph type="dt" idx="10"/>
          </p:nvPr>
        </p:nvSpPr>
        <p:spPr>
          <a:xfrm>
            <a:off x="683419" y="4850796"/>
            <a:ext cx="5703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>
            <p:ph type="title"/>
          </p:nvPr>
        </p:nvSpPr>
        <p:spPr>
          <a:xfrm>
            <a:off x="1253425" y="71545"/>
            <a:ext cx="6115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700"/>
              <a:t>Introduction</a:t>
            </a:r>
            <a:endParaRPr sz="3100">
              <a:solidFill>
                <a:srgbClr val="C00000"/>
              </a:solidFill>
            </a:endParaRPr>
          </a:p>
        </p:txBody>
      </p:sp>
      <p:sp>
        <p:nvSpPr>
          <p:cNvPr id="132" name="Google Shape;132;p28"/>
          <p:cNvSpPr txBox="1"/>
          <p:nvPr>
            <p:ph type="ftr" idx="11"/>
          </p:nvPr>
        </p:nvSpPr>
        <p:spPr>
          <a:xfrm>
            <a:off x="3744682" y="4850796"/>
            <a:ext cx="1653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Computer Engineering Department</a:t>
            </a:r>
            <a:endParaRPr lang="en-GB"/>
          </a:p>
        </p:txBody>
      </p:sp>
      <p:sp>
        <p:nvSpPr>
          <p:cNvPr id="133" name="Google Shape;133;p28"/>
          <p:cNvSpPr txBox="1"/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34" name="Google Shape;134;p28"/>
          <p:cNvSpPr txBox="1"/>
          <p:nvPr>
            <p:ph type="dt" idx="10"/>
          </p:nvPr>
        </p:nvSpPr>
        <p:spPr>
          <a:xfrm>
            <a:off x="683419" y="4850796"/>
            <a:ext cx="570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 </a:t>
            </a:r>
            <a:endParaRPr lang="en-GB"/>
          </a:p>
        </p:txBody>
      </p:sp>
      <p:sp>
        <p:nvSpPr>
          <p:cNvPr id="135" name="Google Shape;135;p28"/>
          <p:cNvSpPr txBox="1"/>
          <p:nvPr/>
        </p:nvSpPr>
        <p:spPr>
          <a:xfrm>
            <a:off x="832485" y="1200150"/>
            <a:ext cx="3544570" cy="270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Times New Roman" panose="02020603050405020304"/>
              <a:buChar char="●"/>
            </a:pPr>
            <a:r>
              <a:rPr lang="en-US" altLang="en-US">
                <a:solidFill>
                  <a:srgbClr val="1B1B1B"/>
                </a:solidFill>
                <a:highlight>
                  <a:schemeClr val="lt1"/>
                </a:highlight>
                <a:latin typeface="+mj-lt"/>
                <a:ea typeface="Times New Roman" panose="02020603050405020304"/>
                <a:cs typeface="+mj-lt"/>
                <a:sym typeface="Times New Roman" panose="02020603050405020304"/>
              </a:rPr>
              <a:t>Hindi–English Parallel Text Analyt</a:t>
            </a:r>
            <a:r>
              <a:rPr lang="en-IN" altLang="en-US">
                <a:solidFill>
                  <a:srgbClr val="1B1B1B"/>
                </a:solidFill>
                <a:highlight>
                  <a:schemeClr val="lt1"/>
                </a:highlight>
                <a:latin typeface="+mj-lt"/>
                <a:ea typeface="Times New Roman" panose="02020603050405020304"/>
                <a:cs typeface="+mj-lt"/>
                <a:sym typeface="Times New Roman" panose="02020603050405020304"/>
              </a:rPr>
              <a:t>ic</a:t>
            </a:r>
            <a:r>
              <a:rPr lang="en-US" altLang="en-US">
                <a:solidFill>
                  <a:srgbClr val="1B1B1B"/>
                </a:solidFill>
                <a:highlight>
                  <a:schemeClr val="lt1"/>
                </a:highlight>
                <a:latin typeface="+mj-lt"/>
                <a:ea typeface="Times New Roman" panose="02020603050405020304"/>
                <a:cs typeface="+mj-lt"/>
                <a:sym typeface="Times New Roman" panose="02020603050405020304"/>
              </a:rPr>
              <a:t>s focuses on analyzing bilingual sentence pairs using NLP techniques</a:t>
            </a:r>
            <a:endParaRPr lang="en-US" altLang="en-US">
              <a:solidFill>
                <a:srgbClr val="1B1B1B"/>
              </a:solidFill>
              <a:highlight>
                <a:schemeClr val="lt1"/>
              </a:highlight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Times New Roman" panose="02020603050405020304"/>
              <a:buChar char="●"/>
            </a:pPr>
            <a:r>
              <a:rPr lang="en-US" altLang="en-US">
                <a:solidFill>
                  <a:srgbClr val="1B1B1B"/>
                </a:solidFill>
                <a:highlight>
                  <a:schemeClr val="lt1"/>
                </a:highlight>
                <a:latin typeface="+mj-lt"/>
                <a:ea typeface="Times New Roman" panose="02020603050405020304"/>
                <a:cs typeface="+mj-lt"/>
                <a:sym typeface="Times New Roman" panose="02020603050405020304"/>
              </a:rPr>
              <a:t>It uses large datasets where each English sentence is paired with its Hindi translation</a:t>
            </a:r>
            <a:endParaRPr lang="en-US" altLang="en-US">
              <a:solidFill>
                <a:srgbClr val="1B1B1B"/>
              </a:solidFill>
              <a:highlight>
                <a:schemeClr val="lt1"/>
              </a:highlight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Times New Roman" panose="02020603050405020304"/>
              <a:buChar char="●"/>
            </a:pPr>
            <a:r>
              <a:rPr lang="en-US" altLang="en-US">
                <a:solidFill>
                  <a:srgbClr val="1B1B1B"/>
                </a:solidFill>
                <a:highlight>
                  <a:schemeClr val="lt1"/>
                </a:highlight>
                <a:latin typeface="+mj-lt"/>
                <a:ea typeface="Times New Roman" panose="02020603050405020304"/>
                <a:cs typeface="+mj-lt"/>
                <a:sym typeface="Times New Roman" panose="02020603050405020304"/>
              </a:rPr>
              <a:t>Helps in understanding how machines translate between two different languages</a:t>
            </a:r>
            <a:endParaRPr lang="en-US" altLang="en-US">
              <a:solidFill>
                <a:srgbClr val="1B1B1B"/>
              </a:solidFill>
              <a:highlight>
                <a:schemeClr val="lt1"/>
              </a:highlight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Times New Roman" panose="02020603050405020304"/>
              <a:buChar char="●"/>
            </a:pPr>
            <a:r>
              <a:rPr lang="en-US" altLang="en-US">
                <a:solidFill>
                  <a:srgbClr val="1B1B1B"/>
                </a:solidFill>
                <a:highlight>
                  <a:schemeClr val="lt1"/>
                </a:highlight>
                <a:latin typeface="+mj-lt"/>
                <a:ea typeface="Times New Roman" panose="02020603050405020304"/>
                <a:cs typeface="+mj-lt"/>
                <a:sym typeface="Times New Roman" panose="02020603050405020304"/>
              </a:rPr>
              <a:t>Plays an important role in building multilingual AI systems</a:t>
            </a:r>
            <a:endParaRPr lang="en-US" altLang="en-US">
              <a:solidFill>
                <a:srgbClr val="1B1B1B"/>
              </a:solidFill>
              <a:highlight>
                <a:schemeClr val="lt1"/>
              </a:highlight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4475480" y="1405255"/>
            <a:ext cx="3065780" cy="236601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 txBox="1"/>
          <p:nvPr>
            <p:ph type="title"/>
          </p:nvPr>
        </p:nvSpPr>
        <p:spPr>
          <a:xfrm>
            <a:off x="1253425" y="71545"/>
            <a:ext cx="61152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en-US" sz="3100">
                <a:solidFill>
                  <a:srgbClr val="C00000"/>
                </a:solidFill>
              </a:rPr>
              <a:t>Objectives</a:t>
            </a:r>
            <a:endParaRPr lang="en-US" altLang="en-US" sz="3100">
              <a:solidFill>
                <a:srgbClr val="C00000"/>
              </a:solidFill>
            </a:endParaRPr>
          </a:p>
        </p:txBody>
      </p:sp>
      <p:sp>
        <p:nvSpPr>
          <p:cNvPr id="142" name="Google Shape;142;p29"/>
          <p:cNvSpPr txBox="1"/>
          <p:nvPr>
            <p:ph type="ftr" idx="11"/>
          </p:nvPr>
        </p:nvSpPr>
        <p:spPr>
          <a:xfrm>
            <a:off x="3744682" y="4850796"/>
            <a:ext cx="1653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Computer Engineering Department</a:t>
            </a:r>
            <a:endParaRPr lang="en-GB"/>
          </a:p>
        </p:txBody>
      </p:sp>
      <p:sp>
        <p:nvSpPr>
          <p:cNvPr id="143" name="Google Shape;143;p29"/>
          <p:cNvSpPr txBox="1"/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44" name="Google Shape;144;p29"/>
          <p:cNvSpPr txBox="1"/>
          <p:nvPr>
            <p:ph type="dt" idx="10"/>
          </p:nvPr>
        </p:nvSpPr>
        <p:spPr>
          <a:xfrm>
            <a:off x="683419" y="4850796"/>
            <a:ext cx="570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 </a:t>
            </a:r>
            <a:endParaRPr lang="en-GB"/>
          </a:p>
        </p:txBody>
      </p:sp>
      <p:sp>
        <p:nvSpPr>
          <p:cNvPr id="145" name="Google Shape;145;p29"/>
          <p:cNvSpPr txBox="1"/>
          <p:nvPr/>
        </p:nvSpPr>
        <p:spPr>
          <a:xfrm>
            <a:off x="-429895" y="1316990"/>
            <a:ext cx="5165725" cy="1725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716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altLang="en-US" sz="1700">
                <a:solidFill>
                  <a:srgbClr val="1B1B1B"/>
                </a:solidFill>
                <a:highlight>
                  <a:schemeClr val="lt1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Evaluate how accurate machine translation systems are</a:t>
            </a:r>
            <a:endParaRPr lang="en-US" altLang="en-US" sz="1700">
              <a:solidFill>
                <a:srgbClr val="1B1B1B"/>
              </a:solidFill>
              <a:highlight>
                <a:schemeClr val="lt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3716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altLang="en-US" sz="1700">
                <a:solidFill>
                  <a:srgbClr val="1B1B1B"/>
                </a:solidFill>
                <a:highlight>
                  <a:schemeClr val="lt1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Identify key challenges in English → Hindi translation</a:t>
            </a:r>
            <a:endParaRPr lang="en-US" altLang="en-US" sz="1700">
              <a:solidFill>
                <a:srgbClr val="1B1B1B"/>
              </a:solidFill>
              <a:highlight>
                <a:schemeClr val="lt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3716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altLang="en-US" sz="1700">
                <a:solidFill>
                  <a:srgbClr val="1B1B1B"/>
                </a:solidFill>
                <a:highlight>
                  <a:schemeClr val="lt1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Compare structure, vocabulary, and grammar of both languages</a:t>
            </a:r>
            <a:endParaRPr lang="en-US" altLang="en-US" sz="1700">
              <a:solidFill>
                <a:srgbClr val="1B1B1B"/>
              </a:solidFill>
              <a:highlight>
                <a:schemeClr val="lt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3716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altLang="en-US" sz="1700">
                <a:solidFill>
                  <a:srgbClr val="1B1B1B"/>
                </a:solidFill>
                <a:highlight>
                  <a:schemeClr val="lt1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Suggest better evaluation methods for translation</a:t>
            </a:r>
            <a:endParaRPr lang="en-US" altLang="en-US" sz="1700">
              <a:solidFill>
                <a:srgbClr val="1B1B1B"/>
              </a:solidFill>
              <a:highlight>
                <a:schemeClr val="lt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0235" y="1005205"/>
            <a:ext cx="3944620" cy="3409315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2029399" y="157258"/>
            <a:ext cx="5085300" cy="353695"/>
          </a:xfrm>
        </p:spPr>
        <p:txBody>
          <a:bodyPr/>
          <a:p>
            <a:r>
              <a:rPr lang="en-IN" altLang="en-US"/>
              <a:t>Dataset </a:t>
            </a:r>
            <a:endParaRPr lang="en-I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603885" y="903605"/>
            <a:ext cx="660463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dataset used is the IIT Bombay English–Hindi Parallel Corpus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It contains aligned sentence pairs where each English sentence has a corresponding Hindi translation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Total dataset size: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  </a:t>
            </a:r>
            <a:r>
              <a:rPr lang="en-US" altLang="en-US"/>
              <a:t>~1.49 million training sentence pairs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  </a:t>
            </a:r>
            <a:r>
              <a:rPr lang="en-US" altLang="en-US"/>
              <a:t>520 validation (development) pairs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  </a:t>
            </a:r>
            <a:r>
              <a:rPr lang="en-US" altLang="en-US"/>
              <a:t>2,507 test sentence pairs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dataset is widely used for: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  </a:t>
            </a:r>
            <a:r>
              <a:rPr lang="en-US" altLang="en-US"/>
              <a:t>Machine Translation research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  </a:t>
            </a:r>
            <a:r>
              <a:rPr lang="en-US" altLang="en-US"/>
              <a:t>Cross-lingual NLP tasks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 subset of 50,000 sentence pairs was selected for Exploratory Data Analysis (EDA)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test dataset (2,507 pairs) was used for evaluating translation performance</a:t>
            </a: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32915"/>
            <a:ext cx="4002405" cy="109220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2029399" y="157258"/>
            <a:ext cx="5085300" cy="353695"/>
          </a:xfrm>
        </p:spPr>
        <p:txBody>
          <a:bodyPr/>
          <a:p>
            <a:r>
              <a:rPr lang="en-US" altLang="en-US"/>
              <a:t>Key Challenges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930910" y="1277620"/>
            <a:ext cx="396367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Word Order Difference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 </a:t>
            </a:r>
            <a:r>
              <a:rPr lang="en-US" altLang="en-US"/>
              <a:t>English: Subject–Verb–Object (SVO)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 </a:t>
            </a:r>
            <a:r>
              <a:rPr lang="en-US" altLang="en-US"/>
              <a:t>Hindi: Subject–Object–Verb (SOV)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Script Difference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 </a:t>
            </a:r>
            <a:r>
              <a:rPr lang="en-US" altLang="en-US"/>
              <a:t>English: Latin (A–Z)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 </a:t>
            </a:r>
            <a:r>
              <a:rPr lang="en-US" altLang="en-US"/>
              <a:t>Hindi: Devanagari (</a:t>
            </a:r>
            <a:r>
              <a:rPr lang="en-US" altLang="en-US"/>
              <a:t>अ</a:t>
            </a:r>
            <a:r>
              <a:rPr lang="en-US" altLang="en-US"/>
              <a:t>, </a:t>
            </a:r>
            <a:r>
              <a:rPr lang="en-US" altLang="en-US"/>
              <a:t>क</a:t>
            </a:r>
            <a:r>
              <a:rPr lang="en-US" altLang="en-US"/>
              <a:t>, </a:t>
            </a:r>
            <a:r>
              <a:rPr lang="en-US" altLang="en-US"/>
              <a:t>ख</a:t>
            </a:r>
            <a:r>
              <a:rPr lang="en-US" altLang="en-US"/>
              <a:t>…)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Morphology Complexity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 </a:t>
            </a:r>
            <a:r>
              <a:rPr lang="en-US" altLang="en-US"/>
              <a:t>One English word → many Hindi forms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 </a:t>
            </a:r>
            <a:r>
              <a:rPr lang="en-US" altLang="en-US"/>
              <a:t>Example: go → </a:t>
            </a:r>
            <a:r>
              <a:rPr lang="en-US" altLang="en-US"/>
              <a:t>जाता</a:t>
            </a:r>
            <a:r>
              <a:rPr lang="en-US" altLang="en-US"/>
              <a:t>, </a:t>
            </a:r>
            <a:r>
              <a:rPr lang="en-US" altLang="en-US"/>
              <a:t>गई</a:t>
            </a:r>
            <a:r>
              <a:rPr lang="en-US" altLang="en-US"/>
              <a:t>, </a:t>
            </a:r>
            <a:r>
              <a:rPr lang="en-US" altLang="en-US"/>
              <a:t>जाएंगे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25" y="948055"/>
            <a:ext cx="2911475" cy="29051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739380" y="83121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type="title"/>
          </p:nvPr>
        </p:nvSpPr>
        <p:spPr>
          <a:xfrm>
            <a:off x="1253425" y="71545"/>
            <a:ext cx="611520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en-US" sz="2700"/>
              <a:t>Methodology (Pipeline)</a:t>
            </a:r>
            <a:endParaRPr lang="en-US" altLang="en-US" sz="2700"/>
          </a:p>
        </p:txBody>
      </p:sp>
      <p:sp>
        <p:nvSpPr>
          <p:cNvPr id="151" name="Google Shape;151;p30"/>
          <p:cNvSpPr txBox="1"/>
          <p:nvPr>
            <p:ph type="ftr" idx="11"/>
          </p:nvPr>
        </p:nvSpPr>
        <p:spPr>
          <a:xfrm>
            <a:off x="3744682" y="4850796"/>
            <a:ext cx="1653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Computer Engineering Department</a:t>
            </a:r>
            <a:endParaRPr lang="en-GB"/>
          </a:p>
        </p:txBody>
      </p:sp>
      <p:sp>
        <p:nvSpPr>
          <p:cNvPr id="152" name="Google Shape;152;p30"/>
          <p:cNvSpPr txBox="1"/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53" name="Google Shape;153;p30"/>
          <p:cNvSpPr txBox="1"/>
          <p:nvPr>
            <p:ph type="dt" idx="10"/>
          </p:nvPr>
        </p:nvSpPr>
        <p:spPr>
          <a:xfrm>
            <a:off x="683419" y="4850796"/>
            <a:ext cx="570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 </a:t>
            </a:r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361565"/>
            <a:ext cx="7011035" cy="183959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975485" y="975995"/>
            <a:ext cx="4671060" cy="2587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Dataset Loading (IIT Bombay Corpus)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Text Preprocessing (cleaning &amp; normalization)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Exploratory Data Analysis (EDA)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Machine Translation using Helsinki-NLP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Evaluation using BLEU, chrF, METEOR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Error Analysis &amp; Comparison</a:t>
            </a:r>
            <a:endParaRPr lang="en-IN" altLang="en-US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2029399" y="157258"/>
            <a:ext cx="5085300" cy="353695"/>
          </a:xfrm>
        </p:spPr>
        <p:txBody>
          <a:bodyPr/>
          <a:p>
            <a:r>
              <a:rPr lang="en-US" altLang="en-US"/>
              <a:t>Evaluation Metrics</a:t>
            </a:r>
            <a:r>
              <a:rPr lang="en-IN" altLang="en-US"/>
              <a:t> and Results </a:t>
            </a:r>
            <a:endParaRPr lang="en-I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691515" y="1340485"/>
            <a:ext cx="594487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BLEU Score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 </a:t>
            </a:r>
            <a:r>
              <a:rPr lang="en-US" altLang="en-US"/>
              <a:t>Measures exact word matches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 </a:t>
            </a:r>
            <a:r>
              <a:rPr lang="en-US" altLang="en-US"/>
              <a:t>Not very effective for Hindi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chrF Score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</a:t>
            </a:r>
            <a:r>
              <a:rPr lang="en-US" altLang="en-US"/>
              <a:t>Measures character-level similarity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</a:t>
            </a:r>
            <a:r>
              <a:rPr lang="en-US" altLang="en-US"/>
              <a:t>Better for morphologically rich languages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METEOR Score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</a:t>
            </a:r>
            <a:r>
              <a:rPr lang="en-US" altLang="en-US"/>
              <a:t>Considers meaning and synonyms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</a:t>
            </a:r>
            <a:r>
              <a:rPr lang="en-US" altLang="en-US"/>
              <a:t>Gives better semantic understanding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b="1"/>
              <a:t>BLEU Score: 6.91 (Low)</a:t>
            </a:r>
            <a:endParaRPr lang="en-US" altLang="en-US" b="1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b="1"/>
              <a:t>chrF Score: 27.09 (Moderate)</a:t>
            </a:r>
            <a:endParaRPr lang="en-US" altLang="en-US" b="1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b="1"/>
              <a:t>METEOR Score: 0.242 (Decent)</a:t>
            </a:r>
            <a:endParaRPr lang="en-US" altLang="en-US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2305" y="2038350"/>
            <a:ext cx="3945255" cy="124841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type="title"/>
          </p:nvPr>
        </p:nvSpPr>
        <p:spPr>
          <a:xfrm>
            <a:off x="1253425" y="71545"/>
            <a:ext cx="61152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en-US" sz="3100">
                <a:solidFill>
                  <a:srgbClr val="C00000"/>
                </a:solidFill>
              </a:rPr>
              <a:t>Conclusion</a:t>
            </a:r>
            <a:endParaRPr lang="en-US" altLang="en-US" sz="3100">
              <a:solidFill>
                <a:srgbClr val="C00000"/>
              </a:solidFill>
            </a:endParaRPr>
          </a:p>
        </p:txBody>
      </p:sp>
      <p:sp>
        <p:nvSpPr>
          <p:cNvPr id="159" name="Google Shape;159;p31"/>
          <p:cNvSpPr txBox="1"/>
          <p:nvPr>
            <p:ph type="ftr" idx="11"/>
          </p:nvPr>
        </p:nvSpPr>
        <p:spPr>
          <a:xfrm>
            <a:off x="3744682" y="4850796"/>
            <a:ext cx="1653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Computer Engineering Department</a:t>
            </a:r>
            <a:endParaRPr lang="en-GB"/>
          </a:p>
        </p:txBody>
      </p:sp>
      <p:sp>
        <p:nvSpPr>
          <p:cNvPr id="160" name="Google Shape;160;p31"/>
          <p:cNvSpPr txBox="1"/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61" name="Google Shape;161;p31"/>
          <p:cNvSpPr txBox="1"/>
          <p:nvPr>
            <p:ph type="dt" idx="10"/>
          </p:nvPr>
        </p:nvSpPr>
        <p:spPr>
          <a:xfrm>
            <a:off x="683419" y="4850796"/>
            <a:ext cx="570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 </a:t>
            </a:r>
            <a:endParaRPr lang="en-GB"/>
          </a:p>
        </p:txBody>
      </p:sp>
      <p:sp>
        <p:nvSpPr>
          <p:cNvPr id="2" name="Text Box 1"/>
          <p:cNvSpPr txBox="1"/>
          <p:nvPr/>
        </p:nvSpPr>
        <p:spPr>
          <a:xfrm>
            <a:off x="501650" y="910590"/>
            <a:ext cx="857123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This project demonstrates that Hindi–English machine translation is a complex task due to major differences in grammar, word order (SVO vs SOV), script, and morphology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translation model (Helsinki-NLP) is able to generate meaningful but not fully accurate translations, especially struggling with long and complex sentences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Evaluation results show that: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   </a:t>
            </a:r>
            <a:r>
              <a:rPr lang="en-US" altLang="en-US"/>
              <a:t>BLEU score is very low because it depends on exact word matching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   </a:t>
            </a:r>
            <a:r>
              <a:rPr lang="en-US" altLang="en-US"/>
              <a:t>chrF and METEOR provide more realistic evaluation, especially for morphologically rich languages like Hindi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study highlights that morphology and sentence structure are the biggest challenges affecting translation quality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Error analysis proves that: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</a:t>
            </a:r>
            <a:r>
              <a:rPr lang="en-US" altLang="en-US"/>
              <a:t>Short and simple sentences are translated well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</a:t>
            </a:r>
            <a:r>
              <a:rPr lang="en-US" altLang="en-US"/>
              <a:t>Long, domain-specific, and complex sentences lead to higher errors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Overall, the project emphasizes that both better models and better evaluation metrics are required for improving Hindi–English translation systems</a:t>
            </a:r>
            <a:endParaRPr lang="en-US" altLang="en-US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3360</Words>
  <Application>WPS Presentation</Application>
  <PresentationFormat/>
  <Paragraphs>119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Times New Roman</vt:lpstr>
      <vt:lpstr>Microsoft YaHei</vt:lpstr>
      <vt:lpstr>Arial Unicode MS</vt:lpstr>
      <vt:lpstr>Simple Light</vt:lpstr>
      <vt:lpstr>Simple Light</vt:lpstr>
      <vt:lpstr>PowerPoint 演示文稿</vt:lpstr>
      <vt:lpstr>Introduction</vt:lpstr>
      <vt:lpstr>Objectives</vt:lpstr>
      <vt:lpstr>Dataset </vt:lpstr>
      <vt:lpstr>Key Challenges</vt:lpstr>
      <vt:lpstr>Methodology (Pipeline)</vt:lpstr>
      <vt:lpstr>Evaluation Metrics and Results 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Shrikant Chiddarwar</cp:lastModifiedBy>
  <cp:revision>9</cp:revision>
  <dcterms:created xsi:type="dcterms:W3CDTF">2026-04-09T04:42:00Z</dcterms:created>
  <dcterms:modified xsi:type="dcterms:W3CDTF">2026-04-09T10:37:12Z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54AA9082B6EF4B40A1FC8B2D235F744B_12</vt:lpwstr>
  </property>
  <property fmtid="{D5CDD505-2E9C-101B-9397-08002B2CF9AE}" pid="3" name="KSOProductBuildVer">
    <vt:lpwstr>1033-12.2.0.23196</vt:lpwstr>
  </property>
</Properties>
</file>